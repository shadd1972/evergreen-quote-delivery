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0" r:id="rId6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41" d="100"/>
          <a:sy n="141" d="100"/>
        </p:scale>
        <p:origin x="666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158262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Delivery goal from delivery-goal.md. All five Done criteria confirmed. Early decisions — legal hold on testimonials, scope protection on Compare Plans — prevented any blockers from becoming critical.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each row. Pause on CI — that is the objective evidence. Point to the screenshot placeholder and paste your actual PR + CI URLs here before presenting.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Both decisions are documented in decision-memo.md. The key theme: both were compliance and scope protection calls made proactively, not reactive firefighting.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R3 was the highest-impact risk in the register. Both injects were handled without missing the delivery goal. The Go/No-Go call was straightforward — CI was green and core work was intact.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Frame these as growth, not failure — all three improve an already-successful sprint. Q&amp;A prep strip is speaker context for rehearsal.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Shadd1972/evergreen-quote-delivery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hyperlink" Target="https://github.com/Shadd1972/evergreen-quote-delivery/actions/runs/29507220545" TargetMode="External"/><Relationship Id="rId4" Type="http://schemas.openxmlformats.org/officeDocument/2006/relationships/hyperlink" Target="https://github.com/Shadd1972/evergreen-quote-delivery/pull/9" TargetMode="Externa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44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FFD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FFD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48640" y="502920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FFD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 REVIEW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777240"/>
            <a:ext cx="80467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Evergreen Insurance Quote</a:t>
            </a:r>
            <a:endParaRPr lang="en-US" sz="4200" dirty="0"/>
          </a:p>
        </p:txBody>
      </p:sp>
      <p:sp>
        <p:nvSpPr>
          <p:cNvPr id="6" name="Shape 4"/>
          <p:cNvSpPr/>
          <p:nvPr/>
        </p:nvSpPr>
        <p:spPr>
          <a:xfrm>
            <a:off x="548640" y="1691640"/>
            <a:ext cx="8046720" cy="1051560"/>
          </a:xfrm>
          <a:prstGeom prst="rect">
            <a:avLst/>
          </a:prstGeom>
          <a:solidFill>
            <a:srgbClr val="FFFFFF">
              <a:alpha val="92000"/>
            </a:srgbClr>
          </a:solidFill>
          <a:ln w="12700">
            <a:solidFill>
              <a:srgbClr val="FFD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777240" y="1764792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FFD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 GOAL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777240" y="1993392"/>
            <a:ext cx="7635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Thursday EOD, an assembled, themed, responsive Evergreen Quote app with the wired quote calculator is merged to main via reviewed PR with a green CI run.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48640" y="2944368"/>
            <a:ext cx="2377440" cy="841248"/>
          </a:xfrm>
          <a:prstGeom prst="rect">
            <a:avLst/>
          </a:prstGeom>
          <a:solidFill>
            <a:srgbClr val="FFD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594360" y="2990088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A14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GOAL HIT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594360" y="3364992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A14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5 "Done" criteria met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154680" y="2944368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App on main — themed &amp; responsive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3154680" y="3264408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Calculate Premium returns a real number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3154680" y="3584448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Green CI run on merge commit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3154680" y="3904488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Reviewed PR merged, branch deleted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3154680" y="4224528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delivery-leadership-package/ committed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548640" y="457200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8E1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Shadd Schutte  ·  Delivery Lead  ·  July 2026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FFD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1A144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274320" y="4901184"/>
            <a:ext cx="85953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Evergreen Insurance Quote — Delivery Review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8732520" y="4901184"/>
            <a:ext cx="3657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FFD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0" y="109728"/>
            <a:ext cx="9144000" cy="566928"/>
          </a:xfrm>
          <a:prstGeom prst="rect">
            <a:avLst/>
          </a:prstGeom>
          <a:solidFill>
            <a:srgbClr val="1A144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57200" y="164592"/>
            <a:ext cx="54864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SHIPPED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5577840" y="237744"/>
            <a:ext cx="3383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i="1" dirty="0">
                <a:solidFill>
                  <a:srgbClr val="FFD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Evergreen Quote v1.0 — delivered to main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65760" y="841248"/>
            <a:ext cx="8412480" cy="630936"/>
          </a:xfrm>
          <a:prstGeom prst="rect">
            <a:avLst/>
          </a:prstGeom>
          <a:solidFill>
            <a:srgbClr val="F2F2F2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365760" y="841248"/>
            <a:ext cx="201168" cy="630936"/>
          </a:xfrm>
          <a:prstGeom prst="rect">
            <a:avLst/>
          </a:prstGeom>
          <a:solidFill>
            <a:srgbClr val="FFD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365760" y="841248"/>
            <a:ext cx="100584" cy="630936"/>
          </a:xfrm>
          <a:prstGeom prst="rect">
            <a:avLst/>
          </a:prstGeom>
          <a:solidFill>
            <a:srgbClr val="FFD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621792" y="89611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🌿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1188720" y="905256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4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Assembled HTML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188720" y="1161288"/>
            <a:ext cx="740664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437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index.html — 5 sections: nav, hero, quote form, testimonials placeholder, footer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1536192"/>
            <a:ext cx="8412480" cy="630936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365760" y="1536192"/>
            <a:ext cx="201168" cy="630936"/>
          </a:xfrm>
          <a:prstGeom prst="rect">
            <a:avLst/>
          </a:prstGeom>
          <a:solidFill>
            <a:srgbClr val="FFD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365760" y="1536192"/>
            <a:ext cx="100584" cy="630936"/>
          </a:xfrm>
          <a:prstGeom prst="rect">
            <a:avLst/>
          </a:prstGeom>
          <a:solidFill>
            <a:srgbClr val="FFD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621792" y="1591056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🎨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1188720" y="1600200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4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 Theme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188720" y="1856232"/>
            <a:ext cx="740664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437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css/theme.css — Evergreen green palette, Bootstrap 5.3.2, mobile-first responsive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65760" y="2231136"/>
            <a:ext cx="8412480" cy="630936"/>
          </a:xfrm>
          <a:prstGeom prst="rect">
            <a:avLst/>
          </a:prstGeom>
          <a:solidFill>
            <a:srgbClr val="F2F2F2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365760" y="2231136"/>
            <a:ext cx="201168" cy="630936"/>
          </a:xfrm>
          <a:prstGeom prst="rect">
            <a:avLst/>
          </a:prstGeom>
          <a:solidFill>
            <a:srgbClr val="FFD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365760" y="2231136"/>
            <a:ext cx="100584" cy="630936"/>
          </a:xfrm>
          <a:prstGeom prst="rect">
            <a:avLst/>
          </a:prstGeom>
          <a:solidFill>
            <a:srgbClr val="FFD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621792" y="22860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🧮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1188720" y="2295144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4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Quote Calculator Wired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1188720" y="2551176"/>
            <a:ext cx="740664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437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js/quote-calc.js — calculatePremium() live for auto, home, renters, condo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365760" y="2926080"/>
            <a:ext cx="8412480" cy="630936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365760" y="2926080"/>
            <a:ext cx="201168" cy="630936"/>
          </a:xfrm>
          <a:prstGeom prst="rect">
            <a:avLst/>
          </a:prstGeom>
          <a:solidFill>
            <a:srgbClr val="FFD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365760" y="2926080"/>
            <a:ext cx="100584" cy="630936"/>
          </a:xfrm>
          <a:prstGeom prst="rect">
            <a:avLst/>
          </a:prstGeom>
          <a:solidFill>
            <a:srgbClr val="FFD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621792" y="2980944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🔁</a:t>
            </a:r>
            <a:endParaRPr lang="en-US" sz="2000" dirty="0"/>
          </a:p>
        </p:txBody>
      </p:sp>
      <p:sp>
        <p:nvSpPr>
          <p:cNvPr id="31" name="Text 29"/>
          <p:cNvSpPr/>
          <p:nvPr/>
        </p:nvSpPr>
        <p:spPr>
          <a:xfrm>
            <a:off x="1188720" y="2990088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4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 Workflow Enabled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1188720" y="3246120"/>
            <a:ext cx="740664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437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.github/workflows/ci.yml — HTML check, required-files check, JS syntax lint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365760" y="3621024"/>
            <a:ext cx="8412480" cy="630936"/>
          </a:xfrm>
          <a:prstGeom prst="rect">
            <a:avLst/>
          </a:prstGeom>
          <a:solidFill>
            <a:srgbClr val="F2F2F2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365760" y="3621024"/>
            <a:ext cx="201168" cy="630936"/>
          </a:xfrm>
          <a:prstGeom prst="rect">
            <a:avLst/>
          </a:prstGeom>
          <a:solidFill>
            <a:srgbClr val="FFD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Shape 33"/>
          <p:cNvSpPr/>
          <p:nvPr/>
        </p:nvSpPr>
        <p:spPr>
          <a:xfrm>
            <a:off x="365760" y="3621024"/>
            <a:ext cx="100584" cy="630936"/>
          </a:xfrm>
          <a:prstGeom prst="rect">
            <a:avLst/>
          </a:prstGeom>
          <a:solidFill>
            <a:srgbClr val="FFD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621792" y="367588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📋</a:t>
            </a:r>
            <a:endParaRPr lang="en-US" sz="2000" dirty="0"/>
          </a:p>
        </p:txBody>
      </p:sp>
      <p:sp>
        <p:nvSpPr>
          <p:cNvPr id="37" name="Text 35"/>
          <p:cNvSpPr/>
          <p:nvPr/>
        </p:nvSpPr>
        <p:spPr>
          <a:xfrm>
            <a:off x="1188720" y="3685032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4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Leadership Package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1188720" y="3941064"/>
            <a:ext cx="740664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437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delivery-goal, risk-register, decision-memo, status-update committed to repo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365760" y="4315968"/>
            <a:ext cx="8412480" cy="420624"/>
          </a:xfrm>
          <a:prstGeom prst="rect">
            <a:avLst/>
          </a:prstGeom>
          <a:solidFill>
            <a:srgbClr val="78E1E1">
              <a:alpha val="45000"/>
            </a:srgbClr>
          </a:solidFill>
          <a:ln w="12700">
            <a:solidFill>
              <a:srgbClr val="28A3A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548640" y="4370832"/>
            <a:ext cx="80467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0674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📷  </a:t>
            </a:r>
            <a:r>
              <a:rPr lang="en-US" sz="1050" i="1" dirty="0">
                <a:solidFill>
                  <a:srgbClr val="06748C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/>
              </a:rPr>
              <a:t>App main</a:t>
            </a:r>
            <a:r>
              <a:rPr lang="en-US" sz="1050" i="1" dirty="0">
                <a:solidFill>
                  <a:srgbClr val="0674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   🔗  </a:t>
            </a:r>
            <a:r>
              <a:rPr lang="en-US" sz="1050" i="1" dirty="0">
                <a:solidFill>
                  <a:srgbClr val="06748C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4"/>
              </a:rPr>
              <a:t>PR link   </a:t>
            </a:r>
            <a:r>
              <a:rPr lang="en-US" sz="1050" i="1" dirty="0">
                <a:solidFill>
                  <a:srgbClr val="0674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   ✅ </a:t>
            </a:r>
            <a:r>
              <a:rPr lang="en-US" sz="1050" i="1" dirty="0">
                <a:solidFill>
                  <a:srgbClr val="06748C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5"/>
              </a:rPr>
              <a:t>CI run link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FFD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1A144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274320" y="4901184"/>
            <a:ext cx="85953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Evergreen Insurance Quote — Delivery Review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8732520" y="4901184"/>
            <a:ext cx="3657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FFD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0" y="109728"/>
            <a:ext cx="9144000" cy="566928"/>
          </a:xfrm>
          <a:prstGeom prst="rect">
            <a:avLst/>
          </a:prstGeom>
          <a:solidFill>
            <a:srgbClr val="1A144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57200" y="164592"/>
            <a:ext cx="64008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KEY DECISIONS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6400800" y="237744"/>
            <a:ext cx="2560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i="1" dirty="0">
                <a:solidFill>
                  <a:srgbClr val="FFD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Calls that protected delivery &amp; compliance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65760" y="841248"/>
            <a:ext cx="4160520" cy="3886200"/>
          </a:xfrm>
          <a:prstGeom prst="rect">
            <a:avLst/>
          </a:prstGeom>
          <a:solidFill>
            <a:srgbClr val="F2F2F2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365760" y="841248"/>
            <a:ext cx="4160520" cy="530352"/>
          </a:xfrm>
          <a:prstGeom prst="rect">
            <a:avLst/>
          </a:prstGeom>
          <a:solidFill>
            <a:srgbClr val="1A144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4160520" cy="182880"/>
          </a:xfrm>
          <a:prstGeom prst="rect">
            <a:avLst/>
          </a:prstGeom>
          <a:solidFill>
            <a:srgbClr val="1A144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75488" y="886968"/>
            <a:ext cx="502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D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1024128" y="886968"/>
            <a:ext cx="3383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Comment out testimonials; ship "Coming Soon" placeholder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94360" y="1463040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674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mattered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594360" y="1691640"/>
            <a:ext cx="3749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437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Legal hold on all three customer quotes — shipping them risked a compliance violation that could have pulled the entire release.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94360" y="2395728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674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Trade-off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594360" y="2624328"/>
            <a:ext cx="3749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437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Slightly less content on launch day vs. zero compliance risk and a clean, professional placeholder.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94360" y="3328416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674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Reversibility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594360" y="3557016"/>
            <a:ext cx="3749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437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code change (uncomment + remove placeholder) the moment signed releases arrive — no rebuild required.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983480" y="841248"/>
            <a:ext cx="4160520" cy="3886200"/>
          </a:xfrm>
          <a:prstGeom prst="rect">
            <a:avLst/>
          </a:prstGeom>
          <a:solidFill>
            <a:srgbClr val="F2F2F2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4983480" y="841248"/>
            <a:ext cx="4160520" cy="530352"/>
          </a:xfrm>
          <a:prstGeom prst="rect">
            <a:avLst/>
          </a:prstGeom>
          <a:solidFill>
            <a:srgbClr val="1A144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4983480" y="1188720"/>
            <a:ext cx="4160520" cy="182880"/>
          </a:xfrm>
          <a:prstGeom prst="rect">
            <a:avLst/>
          </a:prstGeom>
          <a:solidFill>
            <a:srgbClr val="1A144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5093208" y="886968"/>
            <a:ext cx="502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D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5641848" y="886968"/>
            <a:ext cx="3383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Time-box "Compare Plans" nav link to 30 minutes max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212080" y="1463040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674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mattered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5212080" y="1691640"/>
            <a:ext cx="3749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437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Marketing's A/B test request arrived mid-sprint and threatened to push Day 3 script wiring — the core deliverable.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212080" y="2395728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674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Trade-off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5212080" y="2624328"/>
            <a:ext cx="3749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437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Accommodate only if it fit in a single &lt;li&gt; addition with a confirmed destination URL by Wednesday EOD.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5212080" y="3328416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674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5212080" y="3557016"/>
            <a:ext cx="3749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437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 boundary held. Quote calculator wired on schedule. Request logged as R2 in risk register.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FFD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1A144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274320" y="4901184"/>
            <a:ext cx="85953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Evergreen Insurance Quote — Delivery Review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8732520" y="4901184"/>
            <a:ext cx="3657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FFD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0" y="109728"/>
            <a:ext cx="9144000" cy="566928"/>
          </a:xfrm>
          <a:prstGeom prst="rect">
            <a:avLst/>
          </a:prstGeom>
          <a:solidFill>
            <a:srgbClr val="1A144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57200" y="164592"/>
            <a:ext cx="64008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RISKS &amp; INJECTS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6400800" y="237744"/>
            <a:ext cx="2560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i="1" dirty="0">
                <a:solidFill>
                  <a:srgbClr val="FFD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Tracked, managed, and closed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65760" y="822960"/>
            <a:ext cx="8412480" cy="960120"/>
          </a:xfrm>
          <a:prstGeom prst="rect">
            <a:avLst/>
          </a:prstGeom>
          <a:solidFill>
            <a:srgbClr val="78E1E1">
              <a:alpha val="35000"/>
            </a:srgbClr>
          </a:solidFill>
          <a:ln w="12700">
            <a:solidFill>
              <a:srgbClr val="28A3A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365760" y="822960"/>
            <a:ext cx="182880" cy="960120"/>
          </a:xfrm>
          <a:prstGeom prst="rect">
            <a:avLst/>
          </a:prstGeom>
          <a:solidFill>
            <a:srgbClr val="06748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365760" y="822960"/>
            <a:ext cx="91440" cy="960120"/>
          </a:xfrm>
          <a:prstGeom prst="rect">
            <a:avLst/>
          </a:prstGeom>
          <a:solidFill>
            <a:srgbClr val="06748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685800" y="86868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0674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RISK TRACKED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685800" y="1078992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4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R3 — theme.css vs Bootstrap 5 mobile conflict  (Likelihood: M  ·  Impact: H)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85800" y="1335024"/>
            <a:ext cx="7863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437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Mitigation: Tested at 375px, 768px, and 1280px after every section assembly; Bootstrap CDN pinned at 5.3.2.  Status: No layout breakage on any breakpoint — RISK CLOSED.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365760" y="192024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4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Injects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365760" y="2331720"/>
            <a:ext cx="4160520" cy="2395728"/>
          </a:xfrm>
          <a:prstGeom prst="rect">
            <a:avLst/>
          </a:prstGeom>
          <a:solidFill>
            <a:srgbClr val="F2F2F2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365760" y="2331720"/>
            <a:ext cx="4160520" cy="566928"/>
          </a:xfrm>
          <a:prstGeom prst="rect">
            <a:avLst/>
          </a:prstGeom>
          <a:solidFill>
            <a:srgbClr val="E651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365760" y="2697480"/>
            <a:ext cx="4160520" cy="201168"/>
          </a:xfrm>
          <a:prstGeom prst="rect">
            <a:avLst/>
          </a:prstGeom>
          <a:solidFill>
            <a:srgbClr val="E651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548640" y="2395728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TUE  Inject #1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48640" y="2971800"/>
            <a:ext cx="3794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4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Legal hold on customer testimonials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48640" y="3337560"/>
            <a:ext cx="3794760" cy="1298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437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Legal informed the team that signed release forms were required — a ~2-week process. Re-prioritized immediately: commented out the testimonials section, inserted "Coming Soon" placeholder, and documented the decision in decision-memo.md. No delivery work lost.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4983480" y="2331720"/>
            <a:ext cx="4160520" cy="2395728"/>
          </a:xfrm>
          <a:prstGeom prst="rect">
            <a:avLst/>
          </a:prstGeom>
          <a:solidFill>
            <a:srgbClr val="F2F2F2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4983480" y="2331720"/>
            <a:ext cx="4160520" cy="566928"/>
          </a:xfrm>
          <a:prstGeom prst="rect">
            <a:avLst/>
          </a:prstGeom>
          <a:solidFill>
            <a:srgbClr val="06748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4983480" y="2697480"/>
            <a:ext cx="4160520" cy="201168"/>
          </a:xfrm>
          <a:prstGeom prst="rect">
            <a:avLst/>
          </a:prstGeom>
          <a:solidFill>
            <a:srgbClr val="06748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5166360" y="2395728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WED  Inject #2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5166360" y="2971800"/>
            <a:ext cx="3794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4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Marketing requests "Compare Plans" nav link by Thursday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166360" y="3337560"/>
            <a:ext cx="3794760" cy="1298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437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Mid-sprint scope request to support an A/B test. Assessed against delivery goal: wiring the quote calculator was the core Day 3 commitment. Time-boxed to 30 min only with confirmed URL by Wednesday EOD. Logged as R2. Go/No-Go: GO — CI green, core deliverables intact.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FFD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1A144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274320" y="4901184"/>
            <a:ext cx="85953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Evergreen Insurance Quote — Delivery Review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8732520" y="4901184"/>
            <a:ext cx="3657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FFD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0" y="109728"/>
            <a:ext cx="9144000" cy="566928"/>
          </a:xfrm>
          <a:prstGeom prst="rect">
            <a:avLst/>
          </a:prstGeom>
          <a:solidFill>
            <a:srgbClr val="1A144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57200" y="164592"/>
            <a:ext cx="68580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I'D DO DIFFERENTLY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6766560" y="237744"/>
            <a:ext cx="2194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i="1" dirty="0">
                <a:solidFill>
                  <a:srgbClr val="FFD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Retrospective — next round improvements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65760" y="868680"/>
            <a:ext cx="8412480" cy="1188720"/>
          </a:xfrm>
          <a:prstGeom prst="rect">
            <a:avLst/>
          </a:prstGeom>
          <a:solidFill>
            <a:srgbClr val="F2F2F2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502920" y="1124712"/>
            <a:ext cx="566928" cy="566928"/>
          </a:xfrm>
          <a:prstGeom prst="ellipse">
            <a:avLst/>
          </a:prstGeom>
          <a:solidFill>
            <a:srgbClr val="FFD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02920" y="1124712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A14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234440" y="941832"/>
            <a:ext cx="7406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4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 legal review window at kick-off, not Day 2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234440" y="1216152"/>
            <a:ext cx="74066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437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testimonials hold landed as an inject, but the question could have been surfaced in Day 1 planning. One intake question — 'Is any content pending legal or brand approval?' — moves this from inject to known constraint.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234440" y="1673352"/>
            <a:ext cx="7406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i="1" dirty="0">
                <a:solidFill>
                  <a:srgbClr val="0674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Add a legal/brand approval gate question to the project kick-off checklist.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365760" y="2148840"/>
            <a:ext cx="8412480" cy="1188720"/>
          </a:xfrm>
          <a:prstGeom prst="rect">
            <a:avLst/>
          </a:prstGeom>
          <a:solidFill>
            <a:srgbClr val="F2F2F2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502920" y="2404872"/>
            <a:ext cx="566928" cy="566928"/>
          </a:xfrm>
          <a:prstGeom prst="ellipse">
            <a:avLst/>
          </a:prstGeom>
          <a:solidFill>
            <a:srgbClr val="FFD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502920" y="2404872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A14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234440" y="2221992"/>
            <a:ext cx="7406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4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 destination URL before accepting nav requests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234440" y="2496312"/>
            <a:ext cx="74066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437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'Compare Plans' request arrived without a destination URL, making it effectively unexecutable. Accepting scope items without their dependencies creates register items that can't be closed.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1234440" y="2953512"/>
            <a:ext cx="7406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i="1" dirty="0">
                <a:solidFill>
                  <a:srgbClr val="0674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New feature requests must include a destination URL, acceptance criteria, and a named owner before entering scope.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365760" y="3429000"/>
            <a:ext cx="8412480" cy="1188720"/>
          </a:xfrm>
          <a:prstGeom prst="rect">
            <a:avLst/>
          </a:prstGeom>
          <a:solidFill>
            <a:srgbClr val="F2F2F2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502920" y="3685032"/>
            <a:ext cx="566928" cy="566928"/>
          </a:xfrm>
          <a:prstGeom prst="ellipse">
            <a:avLst/>
          </a:prstGeom>
          <a:solidFill>
            <a:srgbClr val="FFD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502920" y="3685032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A14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1234440" y="3502152"/>
            <a:ext cx="7406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4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premium output sanity-check before form wiring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1234440" y="3776472"/>
            <a:ext cx="74066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437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brief flagged placeholder rate values as a known risk. A 5-minute spot check of calculatePremium() edge cases on Day 3 before form wiring would have closed R4 faster and surfaced any odd-looking numbers before demo.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1234440" y="4233672"/>
            <a:ext cx="7406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i="1" dirty="0">
                <a:solidFill>
                  <a:srgbClr val="0674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Add an output-range check step to the Day 3 script wiring task — costs under 10 minutes.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365760" y="4572000"/>
            <a:ext cx="8412480" cy="228600"/>
          </a:xfrm>
          <a:prstGeom prst="rect">
            <a:avLst/>
          </a:prstGeom>
          <a:solidFill>
            <a:srgbClr val="1A144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548640" y="4599432"/>
            <a:ext cx="8046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FFD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Q&amp;A: "Why didn't you ship testimonials?"  ·  "With 3 engineers, first ask: who owns legal comms?"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971</Words>
  <Application>Microsoft Office PowerPoint</Application>
  <PresentationFormat>On-screen Show (16:9)</PresentationFormat>
  <Paragraphs>93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Schutte, Shadd</cp:lastModifiedBy>
  <cp:revision>2</cp:revision>
  <dcterms:created xsi:type="dcterms:W3CDTF">2026-07-16T13:52:14Z</dcterms:created>
  <dcterms:modified xsi:type="dcterms:W3CDTF">2026-07-16T15:25:38Z</dcterms:modified>
</cp:coreProperties>
</file>